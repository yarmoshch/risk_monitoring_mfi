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hite.png" id="12" name="Google Shape;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57200"/>
            <a:ext cx="1234440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548640" y="1874520"/>
            <a:ext cx="82296" cy="1783080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ИССЛЕДОВАТЕЛЬСКО-ПРОЕКТНЫЙ СЕМИНАР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58952" y="2103120"/>
            <a:ext cx="7955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Система ежедневного мониторинга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анализа рисков финансовых организаций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777240" y="33101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CF5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D7ECF5"/>
                </a:solidFill>
                <a:latin typeface="Calibri"/>
                <a:ea typeface="Calibri"/>
                <a:cs typeface="Calibri"/>
                <a:sym typeface="Calibri"/>
              </a:rPr>
              <a:t>на примере кредитных потребительских кооперативов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Контекст и проблема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Почему кредитным кооперативам нужен ежедневный мониторинг рисков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11480" y="1691640"/>
            <a:ext cx="41058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Кредитные потребительские кооперативы - массовый сегмент микрофинансового рынка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 повышенной чувствительностью к рискам ликвидности и качества активов.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Надзор во многом реагирует постфактум, а данные о деятельности разрознены.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" y="3200400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Нужна система раннего предупреждения, работающая ежедневно на доступных открытых и надзорных данных.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892040" y="1600200"/>
            <a:ext cx="3840480" cy="978408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892040" y="1600200"/>
            <a:ext cx="73152" cy="978408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74920" y="1847088"/>
            <a:ext cx="475488" cy="475488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alert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3302" y="197547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5715000" y="1746504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Реактивный надзор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715000" y="20574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Проблемы выявляются по факту, а не на ранней стадии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892040" y="2715768"/>
            <a:ext cx="3840480" cy="978408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892040" y="2715768"/>
            <a:ext cx="73152" cy="978408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74920" y="2962656"/>
            <a:ext cx="475488" cy="475488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database.png" id="37" name="Google Shape;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3302" y="309103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5715000" y="28620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Разнородные данные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715000" y="317296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Отчётность, надзорные и открытые источники не сведены воедино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92040" y="3831336"/>
            <a:ext cx="3840480" cy="978408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92040" y="3831336"/>
            <a:ext cx="73152" cy="978408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74920" y="4078224"/>
            <a:ext cx="475488" cy="475488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eye.png" id="43" name="Google Shape;4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3302" y="420660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715000" y="397764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Нет ранней диагностики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715000" y="4288536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Отсутствует единый сводный индикатор рискованности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Цель и задачи проекта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1435608"/>
            <a:ext cx="8321040" cy="914400"/>
          </a:xfrm>
          <a:prstGeom prst="rect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58368" y="1627632"/>
            <a:ext cx="502920" cy="502920"/>
          </a:xfrm>
          <a:prstGeom prst="ellipse">
            <a:avLst/>
          </a:prstGeom>
          <a:solidFill>
            <a:srgbClr val="003A5C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target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156" y="1763420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1371600" y="1522476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371600" y="1763420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Разработать систему ежедневной оценки рисков КПК, формирующую сводный риск-индекс на основе открытых и надзорных данных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11480" y="2606040"/>
            <a:ext cx="4041648" cy="1078992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12648" y="2898648"/>
            <a:ext cx="493776" cy="493776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lipboar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968" y="3031968"/>
            <a:ext cx="227137" cy="2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1280160" y="2788920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Отобрать факторы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80160" y="3108960"/>
            <a:ext cx="30358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Сформировать и отфильтровать показатели, отражающие реальный риск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90872" y="2606040"/>
            <a:ext cx="4041648" cy="1078992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92040" y="2898648"/>
            <a:ext cx="493776" cy="493776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559552" y="2788920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Построить модель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559552" y="3108960"/>
            <a:ext cx="30358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Распределить показатели по четырём блокам риска с весами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3867912"/>
            <a:ext cx="4041648" cy="1078992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12648" y="4160520"/>
            <a:ext cx="493776" cy="493776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liders_b.png"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968" y="4293839"/>
            <a:ext cx="227137" cy="227137"/>
          </a:xfrm>
          <a:prstGeom prst="rect">
            <a:avLst/>
          </a:prstGeom>
          <a:solidFill>
            <a:srgbClr val="0082BB"/>
          </a:solidFill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280160" y="40507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Нормировать данные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280160" y="4370832"/>
            <a:ext cx="30358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Привести показатели к шкале 0–100 с учётом направления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90872" y="3867912"/>
            <a:ext cx="4041648" cy="1078992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92040" y="4160520"/>
            <a:ext cx="493776" cy="493776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flag_b.png" id="75" name="Google Shape;7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541" y="4293838"/>
            <a:ext cx="227137" cy="227137"/>
          </a:xfrm>
          <a:prstGeom prst="rect">
            <a:avLst/>
          </a:prstGeom>
          <a:solidFill>
            <a:srgbClr val="0082BB"/>
          </a:solidFill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5559552" y="40507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Проверить точность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559552" y="4370832"/>
            <a:ext cx="30358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Протестировать модель и сравнить с реальной надзорной картиной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layers_b.png" id="78" name="Google Shape;7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541" y="3031967"/>
            <a:ext cx="227137" cy="227137"/>
          </a:xfrm>
          <a:prstGeom prst="rect">
            <a:avLst/>
          </a:prstGeom>
          <a:solidFill>
            <a:srgbClr val="0082BB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Архитектура модели: четыре блока риска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Итоговый риск-индекс - взвешенная сумма блоков. Чем ниже балл, тем надёжнее организация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11480" y="1874520"/>
            <a:ext cx="2048256" cy="26974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11480" y="1874520"/>
            <a:ext cx="2048256" cy="109728"/>
          </a:xfrm>
          <a:prstGeom prst="rect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24712" y="2167128"/>
            <a:ext cx="621792" cy="621792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hartline.png"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596" y="2329160"/>
            <a:ext cx="286024" cy="286024"/>
          </a:xfrm>
          <a:prstGeom prst="rect">
            <a:avLst/>
          </a:prstGeom>
          <a:solidFill>
            <a:srgbClr val="0082BB"/>
          </a:solidFill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502920" y="2898648"/>
            <a:ext cx="18653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Финансовая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устойчивость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3447288"/>
            <a:ext cx="18653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395935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вес в индексе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57784" y="416052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Капитал, достаточность, прибыльность, динамика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578608" y="1874520"/>
            <a:ext cx="2048256" cy="26974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578608" y="1874520"/>
            <a:ext cx="2048256" cy="10972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291840" y="2167128"/>
            <a:ext cx="621792" cy="621792"/>
          </a:xfrm>
          <a:prstGeom prst="ellipse">
            <a:avLst/>
          </a:prstGeom>
          <a:solidFill>
            <a:srgbClr val="003A5C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balance.png"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9724" y="2335012"/>
            <a:ext cx="286024" cy="28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2670048" y="2898648"/>
            <a:ext cx="18653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Кредитный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риск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670048" y="3447288"/>
            <a:ext cx="18653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5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3A5C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670048" y="395935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вес в индексе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724912" y="416052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Качество портфеля, просрочка, покрытие резервами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45736" y="1874520"/>
            <a:ext cx="2048256" cy="26974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45736" y="1874520"/>
            <a:ext cx="2048256" cy="109728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58968" y="2167128"/>
            <a:ext cx="621792" cy="621792"/>
          </a:xfrm>
          <a:prstGeom prst="ellipse">
            <a:avLst/>
          </a:prstGeom>
          <a:solidFill>
            <a:srgbClr val="00BCE7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liquidity.png" id="107" name="Google Shape;10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6852" y="2335012"/>
            <a:ext cx="286024" cy="28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4837176" y="2898648"/>
            <a:ext cx="18653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Ликвидность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837176" y="3447288"/>
            <a:ext cx="18653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837176" y="395935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вес в индексе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892040" y="416052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Текущая ликвидность, ликвидные активы, GAP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912864" y="1874520"/>
            <a:ext cx="2048256" cy="26974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912864" y="1874520"/>
            <a:ext cx="2048256" cy="109728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626096" y="2167128"/>
            <a:ext cx="621792" cy="621792"/>
          </a:xfrm>
          <a:prstGeom prst="ellipse">
            <a:avLst/>
          </a:prstGeom>
          <a:solidFill>
            <a:srgbClr val="FAA61A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ignals_w.png" id="115" name="Google Shape;11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3980" y="2335012"/>
            <a:ext cx="286024" cy="28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004304" y="2898648"/>
            <a:ext cx="18653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Нефинансовые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сигналы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004304" y="3447288"/>
            <a:ext cx="18653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A61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AA61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004304" y="395935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вес в индексе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059168" y="416052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Жалобы, проверки, исполнительные производства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11480" y="667229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Этапы проделанной работы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От широкого перечня факторов к проверенной модели риск-индекса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11480" y="1828800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76072" y="1993392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76072" y="1993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earch_b.png"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2032" y="20116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576072" y="2505456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Сбор факторов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76072" y="2779776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Широкий перечень финансовых, кредитных и нефинансовых показателей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73552" y="1828800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438144" y="1993392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438144" y="1993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filter_b.png" id="138" name="Google Shape;13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4104" y="20116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3438144" y="2505456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Фильтрация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38144" y="2779776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Отбор по измеримости, источнику данных и отсутствию дублей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135624" y="1828800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300216" y="1993392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300216" y="1993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layers_b.png" id="144" name="Google Shape;14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6176" y="20116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6300216" y="2505456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Структура и источники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00216" y="2779776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Четыре блока риска и фиксация источников данных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11480" y="3355848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76072" y="3520440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76072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liders_b.png" id="150" name="Google Shape;15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2032" y="3538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576072" y="4032504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Нормировка 0–100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76072" y="4306824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Переход от рангов к сопоставимым баллам с учётом направления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273552" y="3355848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438144" y="3520440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438144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ogs_b.png" id="156" name="Google Shape;15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04104" y="3538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3438144" y="4032504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Расчёт индекса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438144" y="4306824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Средние по блокам и взвешенный итоговый риск-индекс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135624" y="3355848"/>
            <a:ext cx="2697480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300216" y="3520440"/>
            <a:ext cx="457200" cy="457200"/>
          </a:xfrm>
          <a:prstGeom prst="ellipse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300216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flag_b.png" id="162" name="Google Shape;16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6176" y="3538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300216" y="4032504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Тестирование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300216" y="4306824"/>
            <a:ext cx="2368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Проверка на 21 компании и валидация результатов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Способ нормировки показателей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Ключевое методическое решение, повысившее сопоставимость оценок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11480" y="1783080"/>
            <a:ext cx="3931920" cy="137160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C4C4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11480" y="1783080"/>
            <a:ext cx="73152" cy="1371600"/>
          </a:xfrm>
          <a:prstGeom prst="rect">
            <a:avLst/>
          </a:prstGeom>
          <a:solidFill>
            <a:srgbClr val="6E74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1792" y="193852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БЫЛО · РАНЖИРОВАНИЕ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21792" y="2212848"/>
            <a:ext cx="3611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При одинаковых значениях компании получали одинаковый ранг, а следующие значения резко смещались — оценка искажалась.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arrow.png" id="178" name="Google Shape;1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343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5074920" y="1783080"/>
            <a:ext cx="3657600" cy="1371600"/>
          </a:xfrm>
          <a:prstGeom prst="rect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85232" y="1938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СТАЛО · ШКАЛА 0–100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285232" y="2212848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Нормализация всех показателей в диапазоне от 0 до 100 сделала их сопоставимыми и снизила искажения при расчёте индекса.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11480" y="3401568"/>
            <a:ext cx="8321040" cy="1234440"/>
          </a:xfrm>
          <a:prstGeom prst="rect">
            <a:avLst/>
          </a:prstGeom>
          <a:solidFill>
            <a:srgbClr val="EEF4F8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Учёт направления показателей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trendup_b.png"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950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1078992" y="3950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Больше - лучше:  </a:t>
            </a:r>
            <a:r>
              <a:rPr lang="en-US" sz="11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капитал, ликвидность, рентабельность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828032" y="3931920"/>
            <a:ext cx="347472" cy="347472"/>
          </a:xfrm>
          <a:prstGeom prst="ellipse">
            <a:avLst/>
          </a:prstGeom>
          <a:solidFill>
            <a:srgbClr val="003A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hield.png" id="187" name="Google Shape;18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9959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5285232" y="395020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Меньше - меньше риск:  </a:t>
            </a:r>
            <a:r>
              <a:rPr lang="en-US" sz="11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просрочка, заёмные средства, разрыв ликвидности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Состав показателей модели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19 рабочих показателей, объединённых в четыре блока риска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11480" y="1691640"/>
            <a:ext cx="5074920" cy="306324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11480" y="1691640"/>
            <a:ext cx="5074920" cy="457200"/>
          </a:xfrm>
          <a:prstGeom prst="rect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94360" y="16916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ФИНАНСОВЫЕ ПОКАЗАТЕЛИ  ·  12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40080" y="228600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Норматив достаточности капитала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Фактические потери (убыток)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Доля заёмных средств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Динамика капитала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Темп роста выданных займов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Уровень просроченной задолженности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Покрытие просрочки резервом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Коэффициент текущей ликвидности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Доля высоколиквидных активов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Разрыв ликвидности (GAP)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Средневзвешенная ставка по портфелю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Рентабельность активов (ROA)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669280" y="1691640"/>
            <a:ext cx="3063240" cy="306324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FFD4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669280" y="1691640"/>
            <a:ext cx="3063240" cy="45720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852160" y="1691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НЕФИНАНСОВЫЕ  ·  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897880" y="233172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Обоснованные жалобы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Проверки Банка России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Исполнительные производства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Текучесть органов управления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Срок работы на рынке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Динамика численности пайщиков</a:t>
            </a:r>
            <a:endParaRPr sz="1100">
              <a:solidFill>
                <a:srgbClr val="1A2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Факт нарушений законодательства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2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2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2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Нефинансовый блок: особый порядок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Часть данных относится к чувствительной надзорной информации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11480" y="1691640"/>
            <a:ext cx="48920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1810512"/>
            <a:ext cx="438912" cy="438912"/>
          </a:xfrm>
          <a:prstGeom prst="ellipse">
            <a:avLst/>
          </a:prstGeom>
          <a:solidFill>
            <a:srgbClr val="FAA61A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lipboard.png"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146" y="1929018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1115568" y="1783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Обоснованные жалобы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115568" y="2057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Сайт Банка России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11480" y="2459736"/>
            <a:ext cx="48920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48640" y="2578608"/>
            <a:ext cx="438912" cy="438912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gavel.png" id="222" name="Google Shape;22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46" y="2697114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1115568" y="25511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Проверки Банка России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115568" y="28254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Надзорные планы и решения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11480" y="3227832"/>
            <a:ext cx="48920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48640" y="3346704"/>
            <a:ext cx="438912" cy="438912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balance.png" id="227" name="Google Shape;22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146" y="346521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115568" y="33192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Исполнительные производства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115568" y="359359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Только где КПК — ответчик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11480" y="3995928"/>
            <a:ext cx="48920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FAA61A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users_b.png" id="232" name="Google Shape;23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146" y="4233306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1115568" y="4087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Текучесть органов управления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115568" y="43616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ЕГРЮЛ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532120" y="1691640"/>
            <a:ext cx="3200400" cy="3072384"/>
          </a:xfrm>
          <a:prstGeom prst="rect">
            <a:avLst/>
          </a:prstGeom>
          <a:solidFill>
            <a:srgbClr val="003A5C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532120" y="1691640"/>
            <a:ext cx="3200400" cy="109728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760720" y="192024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Как учтён в модели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760720" y="2286000"/>
            <a:ext cx="2788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F4F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Рассчитан отдельно научным руководителем — данные чувствительны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E8F4F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В модель добавлен готовый средний балл по блоку (0–100)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E8F4F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Исключён показатель «раскрытие информации на сайте» — сложно собрать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E8F4F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«Срок работы на рынке» признан слабым предиктором риска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Распределение работы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Кто и что делал на проекте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11480" y="1691640"/>
            <a:ext cx="4114800" cy="306324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11480" y="1691640"/>
            <a:ext cx="4114800" cy="713232"/>
          </a:xfrm>
          <a:prstGeom prst="rect">
            <a:avLst/>
          </a:prstGeom>
          <a:solidFill>
            <a:srgbClr val="0082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03504" y="1828800"/>
            <a:ext cx="438912" cy="438912"/>
          </a:xfrm>
          <a:prstGeom prst="ellipse">
            <a:avLst/>
          </a:prstGeom>
          <a:solidFill>
            <a:srgbClr val="003A5C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users.png" id="251" name="Google Shape;2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010" y="1947306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1170432" y="169164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Проектная команда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58368" y="2606040"/>
            <a:ext cx="3657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Сбор и методическая фильтрация факторов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Структура модели и источники данных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Расчёт финансовых блоков и нормировка 0–100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Сборка итогового риск-индекса с весами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Формирование рейтинга компаний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Подготовка защиты и презентации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617720" y="1691640"/>
            <a:ext cx="4114800" cy="306324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FFD48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617720" y="1691640"/>
            <a:ext cx="4114800" cy="713232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809744" y="1828800"/>
            <a:ext cx="438912" cy="438912"/>
          </a:xfrm>
          <a:prstGeom prst="ellipse">
            <a:avLst/>
          </a:prstGeom>
          <a:solidFill>
            <a:srgbClr val="B5760F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usertie.png" id="257" name="Google Shape;25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8250" y="1947306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5376672" y="169164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Научный руководитель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864608" y="2606040"/>
            <a:ext cx="3657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Предоставил тестовый набор — 21 условная компания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Рассчитал нефинансовый блок отдельно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Обеспечил защиту чувствительных надзорных данных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Сверил результаты с реальной картиной рисков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Задал пороги качества и направления развития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265" name="Google Shape;2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Итоговый рейтинг: 21 компания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Сводный риск-индекс по условным КПК. Чем ниже балл — тем надёжнее организация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554480"/>
            <a:ext cx="8275320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275" name="Google Shape;2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Результаты валидации модели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Сопоставление модельной оценки с реальным надзорным положением (21 компания)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11480" y="1691640"/>
            <a:ext cx="2788920" cy="3063240"/>
          </a:xfrm>
          <a:prstGeom prst="rect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11480" y="2057400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02920" y="30632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F4F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совпадение с реальной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F4F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4FB"/>
                </a:solidFill>
                <a:latin typeface="Calibri"/>
                <a:ea typeface="Calibri"/>
                <a:cs typeface="Calibri"/>
                <a:sym typeface="Calibri"/>
              </a:rPr>
              <a:t>надзорной оценкой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3"/>
          <p:cNvCxnSpPr/>
          <p:nvPr/>
        </p:nvCxnSpPr>
        <p:spPr>
          <a:xfrm>
            <a:off x="777240" y="3840480"/>
            <a:ext cx="2057400" cy="0"/>
          </a:xfrm>
          <a:prstGeom prst="straightConnector1">
            <a:avLst/>
          </a:prstGeom>
          <a:noFill/>
          <a:ln cap="flat" cmpd="sng" w="9525">
            <a:solidFill>
              <a:srgbClr val="00BC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3"/>
          <p:cNvSpPr/>
          <p:nvPr/>
        </p:nvSpPr>
        <p:spPr>
          <a:xfrm>
            <a:off x="548640" y="395020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ECF5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7ECF5"/>
                </a:solidFill>
                <a:latin typeface="Calibri"/>
                <a:ea typeface="Calibri"/>
                <a:cs typeface="Calibri"/>
                <a:sym typeface="Calibri"/>
              </a:rPr>
              <a:t>Порог запуска модели — выше 80%.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600200"/>
            <a:ext cx="28346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4160520" y="27889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160520" y="32004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совпало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355080" y="1719072"/>
            <a:ext cx="23774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355080" y="1719072"/>
            <a:ext cx="91440" cy="676656"/>
          </a:xfrm>
          <a:prstGeom prst="rect">
            <a:avLst/>
          </a:prstGeom>
          <a:solidFill>
            <a:srgbClr val="1E9E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565392" y="181051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Точно - «ОК»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565392" y="208483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12 компаний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092440" y="1810512"/>
            <a:ext cx="5669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9E5A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E9E5A"/>
                </a:solidFill>
                <a:latin typeface="Calibri"/>
                <a:ea typeface="Calibri"/>
                <a:cs typeface="Calibri"/>
                <a:sym typeface="Calibri"/>
              </a:rPr>
              <a:t>57%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355080" y="2487168"/>
            <a:ext cx="23774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355080" y="2487168"/>
            <a:ext cx="91440" cy="676656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565392" y="25786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Почти ОК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565392" y="285292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3 компании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092440" y="2578608"/>
            <a:ext cx="5669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355080" y="3255264"/>
            <a:ext cx="23774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355080" y="3255264"/>
            <a:ext cx="91440" cy="676656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565392" y="334670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Неточно - резерв роста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565392" y="362102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5 компаний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092440" y="3346704"/>
            <a:ext cx="5669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A61A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AA61A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355080" y="4023360"/>
            <a:ext cx="2377440" cy="676656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355080" y="4023360"/>
            <a:ext cx="91440" cy="676656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565392" y="41148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Совсем неточно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565392" y="43891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1 компания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092440" y="4114800"/>
            <a:ext cx="5669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D1B34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ED1B34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312" name="Google Shape;3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11480" y="6766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Точки роста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29768" y="1225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9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479"/>
                </a:solidFill>
                <a:latin typeface="Calibri"/>
                <a:ea typeface="Calibri"/>
                <a:cs typeface="Calibri"/>
                <a:sym typeface="Calibri"/>
              </a:rPr>
              <a:t>Направления доработки модели до уровня запуска (&gt;80%)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11480" y="1600200"/>
            <a:ext cx="4041648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11480" y="1600200"/>
            <a:ext cx="73152" cy="132588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30936" y="1965960"/>
            <a:ext cx="548640" cy="548640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liders_b.png" id="319" name="Google Shape;3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069" y="211409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1325880" y="1819656"/>
            <a:ext cx="2944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Перенастройка весов блоков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325880" y="2276856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Калибровка вкладов блоков позволит перевести 2–3 компании в зону «ОК»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690872" y="1600200"/>
            <a:ext cx="4041648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690872" y="1600200"/>
            <a:ext cx="73152" cy="132588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910328" y="1965960"/>
            <a:ext cx="548640" cy="548640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ignals_w.png" id="325" name="Google Shape;3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8461" y="211409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/>
          <p:nvPr/>
        </p:nvSpPr>
        <p:spPr>
          <a:xfrm>
            <a:off x="5605272" y="1819656"/>
            <a:ext cx="2944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Расширение нефинансовых факторов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605272" y="2276856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Добавление сигналов, которые не видны в движении средств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11480" y="3108960"/>
            <a:ext cx="4041648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411480" y="3108960"/>
            <a:ext cx="73152" cy="132588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30936" y="3474720"/>
            <a:ext cx="548640" cy="548640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ogs.png" id="331" name="Google Shape;33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069" y="362285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4"/>
          <p:cNvSpPr/>
          <p:nvPr/>
        </p:nvSpPr>
        <p:spPr>
          <a:xfrm>
            <a:off x="1325880" y="3328416"/>
            <a:ext cx="2944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Калибровка финансовых показателей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1325880" y="3785616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Уточнение набора и принципов расчёта — итеративно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690872" y="3108960"/>
            <a:ext cx="4041648" cy="1325880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D7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690872" y="3108960"/>
            <a:ext cx="73152" cy="132588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910328" y="3474720"/>
            <a:ext cx="548640" cy="548640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hartline.png" id="337" name="Google Shape;33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8461" y="362285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4"/>
          <p:cNvSpPr/>
          <p:nvPr/>
        </p:nvSpPr>
        <p:spPr>
          <a:xfrm>
            <a:off x="5605272" y="3328416"/>
            <a:ext cx="29443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Увеличение выборки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605272" y="3785616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Больше компаний и итераций для устойчивых результатов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11480" y="4279392"/>
            <a:ext cx="8321040" cy="4572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640080" y="427939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A6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AA61A"/>
                </a:solidFill>
                <a:latin typeface="Calibri"/>
                <a:ea typeface="Calibri"/>
                <a:cs typeface="Calibri"/>
                <a:sym typeface="Calibri"/>
              </a:rPr>
              <a:t>24%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неточных оценок — это резерв роста, а не ошибка: понятный и достижимый путь развития модели.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gray.png" id="347" name="Google Shape;3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"/>
            <a:ext cx="786384" cy="19293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850392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C4C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C4C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411480" y="667229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Итоги проекта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11480" y="1463040"/>
            <a:ext cx="8321040" cy="603504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66928" y="1554480"/>
            <a:ext cx="420624" cy="420624"/>
          </a:xfrm>
          <a:prstGeom prst="ellipse">
            <a:avLst/>
          </a:prstGeom>
          <a:solidFill>
            <a:srgbClr val="1E9E5A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check_w.png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496" y="1668048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1143000" y="146304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9E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9E5A"/>
                </a:solidFill>
                <a:latin typeface="Calibri"/>
                <a:ea typeface="Calibri"/>
                <a:cs typeface="Calibri"/>
                <a:sym typeface="Calibri"/>
              </a:rPr>
              <a:t>Рабочая модель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3657600" y="1463040"/>
            <a:ext cx="4892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Построена комплексная 4-блочная модель риск-индекса для КПК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11480" y="2139696"/>
            <a:ext cx="83210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66928" y="2231136"/>
            <a:ext cx="420624" cy="420624"/>
          </a:xfrm>
          <a:prstGeom prst="ellipse">
            <a:avLst/>
          </a:prstGeom>
          <a:solidFill>
            <a:srgbClr val="0082BB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liders.png" id="357" name="Google Shape;35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496" y="2344704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5"/>
          <p:cNvSpPr/>
          <p:nvPr/>
        </p:nvSpPr>
        <p:spPr>
          <a:xfrm>
            <a:off x="1143000" y="2139696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B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2BB"/>
                </a:solidFill>
                <a:latin typeface="Calibri"/>
                <a:ea typeface="Calibri"/>
                <a:cs typeface="Calibri"/>
                <a:sym typeface="Calibri"/>
              </a:rPr>
              <a:t>Сопоставимость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657600" y="2139696"/>
            <a:ext cx="4892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Нормировка 0–100 с учётом направления устранила искажения рангов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411480" y="2816352"/>
            <a:ext cx="8321040" cy="603504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66928" y="2907792"/>
            <a:ext cx="420624" cy="420624"/>
          </a:xfrm>
          <a:prstGeom prst="ellipse">
            <a:avLst/>
          </a:prstGeom>
          <a:solidFill>
            <a:srgbClr val="00BCE7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ercent.png" id="362" name="Google Shape;36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496" y="3021360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1143000" y="2816352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Высокая точность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3657600" y="2816352"/>
            <a:ext cx="4892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71% совпадений с реальной картиной на первой калибровке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411480" y="3493008"/>
            <a:ext cx="83210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66928" y="3584448"/>
            <a:ext cx="420624" cy="420624"/>
          </a:xfrm>
          <a:prstGeom prst="ellipse">
            <a:avLst/>
          </a:prstGeom>
          <a:solidFill>
            <a:srgbClr val="FAA61A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ignals_w.png" id="367" name="Google Shape;36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496" y="3698016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5"/>
          <p:cNvSpPr/>
          <p:nvPr/>
        </p:nvSpPr>
        <p:spPr>
          <a:xfrm>
            <a:off x="1143000" y="3493008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A6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AA61A"/>
                </a:solidFill>
                <a:latin typeface="Calibri"/>
                <a:ea typeface="Calibri"/>
                <a:cs typeface="Calibri"/>
                <a:sym typeface="Calibri"/>
              </a:rPr>
              <a:t>Роль нефин. факторов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657600" y="3493008"/>
            <a:ext cx="4892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Низкий вес, но важны: ловят то, что не видно в движении средств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11480" y="4169664"/>
            <a:ext cx="8321040" cy="603504"/>
          </a:xfrm>
          <a:prstGeom prst="rect">
            <a:avLst/>
          </a:prstGeom>
          <a:solidFill>
            <a:srgbClr val="F6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003A5C"/>
          </a:solidFill>
          <a:ln>
            <a:noFill/>
          </a:ln>
          <a:effectLst>
            <a:outerShdw blurRad="114300" rotWithShape="0" algn="bl" dir="5400000" dist="38100">
              <a:srgbClr val="1A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trendup.png" id="372" name="Google Shape;37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0496" y="4374672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/>
          <p:nvPr/>
        </p:nvSpPr>
        <p:spPr>
          <a:xfrm>
            <a:off x="1143000" y="4169664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3A5C"/>
                </a:solidFill>
                <a:latin typeface="Calibri"/>
                <a:ea typeface="Calibri"/>
                <a:cs typeface="Calibri"/>
                <a:sym typeface="Calibri"/>
              </a:rPr>
              <a:t>Понятный путь развития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3657600" y="4169664"/>
            <a:ext cx="4892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A38"/>
                </a:solidFill>
                <a:latin typeface="Calibri"/>
                <a:ea typeface="Calibri"/>
                <a:cs typeface="Calibri"/>
                <a:sym typeface="Calibri"/>
              </a:rPr>
              <a:t>Перенастройка весов и расширение факторов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hite.png" id="380" name="Google Shape;3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57200"/>
            <a:ext cx="1234440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/>
          <p:nvPr/>
        </p:nvSpPr>
        <p:spPr>
          <a:xfrm>
            <a:off x="548640" y="2194560"/>
            <a:ext cx="82296" cy="1371600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777240" y="21488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795528" y="30632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CF5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7ECF5"/>
                </a:solidFill>
                <a:latin typeface="Calibri"/>
                <a:ea typeface="Calibri"/>
                <a:cs typeface="Calibri"/>
                <a:sym typeface="Calibri"/>
              </a:rPr>
              <a:t>Исследовательско-проектный семинар · Система мониторинга рисков кредитных кооперативов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795528" y="4069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BCE7"/>
                </a:solidFill>
                <a:latin typeface="Calibri"/>
                <a:ea typeface="Calibri"/>
                <a:cs typeface="Calibri"/>
                <a:sym typeface="Calibri"/>
              </a:rPr>
              <a:t>Готовы ответить на вопросы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